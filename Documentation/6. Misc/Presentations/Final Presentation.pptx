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PT Sans Narrow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Narrow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PTSansNarrow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19" Type="http://schemas.openxmlformats.org/officeDocument/2006/relationships/font" Target="fonts/ProximaNova-boldItalic.fntdata"/><Relationship Id="rId18" Type="http://schemas.openxmlformats.org/officeDocument/2006/relationships/font" Target="fonts/ProximaNova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Font typeface="Arial"/>
              <a:buNone/>
            </a:pPr>
            <a:r>
              <a:rPr lang="en" sz="1100"/>
              <a:t>Tanna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" name="Shape 7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Font typeface="Arial"/>
              <a:buNone/>
            </a:pPr>
            <a:r>
              <a:rPr lang="en" sz="1100"/>
              <a:t>Tanna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Tanna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TJ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TJ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Shape 10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TJ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Branden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JP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JP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JP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All Members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hape 10"/>
          <p:cNvCxnSpPr/>
          <p:nvPr/>
        </p:nvCxnSpPr>
        <p:spPr>
          <a:xfrm>
            <a:off x="7007735" y="3176886"/>
            <a:ext cx="5622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Shape 11"/>
          <p:cNvCxnSpPr/>
          <p:nvPr/>
        </p:nvCxnSpPr>
        <p:spPr>
          <a:xfrm>
            <a:off x="1575033" y="3158250"/>
            <a:ext cx="5622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" name="Shape 12"/>
          <p:cNvGrpSpPr/>
          <p:nvPr/>
        </p:nvGrpSpPr>
        <p:grpSpPr>
          <a:xfrm>
            <a:off x="1004144" y="1022025"/>
            <a:ext cx="7136667" cy="152400"/>
            <a:chOff x="1346428" y="1011300"/>
            <a:chExt cx="6452100" cy="152400"/>
          </a:xfrm>
        </p:grpSpPr>
        <p:cxnSp>
          <p:nvCxnSpPr>
            <p:cNvPr id="13" name="Shape 13"/>
            <p:cNvCxnSpPr/>
            <p:nvPr/>
          </p:nvCxnSpPr>
          <p:spPr>
            <a:xfrm rot="10800000">
              <a:off x="1346428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Shape 14"/>
            <p:cNvCxnSpPr/>
            <p:nvPr/>
          </p:nvCxnSpPr>
          <p:spPr>
            <a:xfrm rot="10800000">
              <a:off x="1346428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" name="Shape 15"/>
          <p:cNvGrpSpPr/>
          <p:nvPr/>
        </p:nvGrpSpPr>
        <p:grpSpPr>
          <a:xfrm>
            <a:off x="1004151" y="3969100"/>
            <a:ext cx="7136667" cy="152400"/>
            <a:chOff x="1346434" y="3969087"/>
            <a:chExt cx="6452100" cy="152400"/>
          </a:xfrm>
        </p:grpSpPr>
        <p:cxnSp>
          <p:nvCxnSpPr>
            <p:cNvPr id="16" name="Shape 16"/>
            <p:cNvCxnSpPr/>
            <p:nvPr/>
          </p:nvCxnSpPr>
          <p:spPr>
            <a:xfrm>
              <a:off x="1346434" y="4121487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Shape 17"/>
            <p:cNvCxnSpPr/>
            <p:nvPr/>
          </p:nvCxnSpPr>
          <p:spPr>
            <a:xfrm>
              <a:off x="1346434" y="3969087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" name="Shape 18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PT Sans Narrow"/>
              <a:buNone/>
              <a:defRPr b="1" i="0" sz="54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5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0" lvl="2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5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0" lvl="3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5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0" lvl="4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5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0" lvl="5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5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0" lvl="6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5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0" lvl="7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5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0" lvl="8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5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Open Sans"/>
              <a:buNone/>
              <a:def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hape 2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Shape 25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PT Sans Narrow"/>
              <a:buNone/>
              <a:defRPr b="1" i="0" sz="4200" u="none" cap="none" strike="noStrike"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4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0" lvl="2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4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0" lvl="3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4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0" lvl="4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4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0" lvl="5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4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0" lvl="6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4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0" lvl="7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4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0" lvl="8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4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Open Sans"/>
              <a:buNone/>
              <a:defRPr b="0" i="0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1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1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1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1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1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1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1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Open Sans"/>
              <a:buNone/>
              <a:defRPr b="0" i="0" sz="21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7" name="Shape 2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Shape 2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Open Sans"/>
              <a:buNone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Open Sans"/>
              <a:buNone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Open Sans"/>
              <a:buNone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1371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Open Sans"/>
              <a:buNone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18288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Open Sans"/>
              <a:buNone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22860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Open Sans"/>
              <a:buNone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2743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Open Sans"/>
              <a:buNone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3200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Open Sans"/>
              <a:buNone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Open Sans"/>
              <a:buNone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Shape 32"/>
          <p:cNvSpPr txBox="1"/>
          <p:nvPr>
            <p:ph type="title"/>
          </p:nvPr>
        </p:nvSpPr>
        <p:spPr>
          <a:xfrm>
            <a:off x="311700" y="503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PT Sans Narrow"/>
              <a:buNone/>
              <a:defRPr b="1" i="0" sz="3600" u="none" cap="none" strike="noStrike"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0" lvl="2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0" lvl="3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0" lvl="4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0" lvl="5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0" lvl="6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0" lvl="7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0" lvl="8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33" name="Shape 33"/>
          <p:cNvSpPr txBox="1"/>
          <p:nvPr>
            <p:ph idx="1" type="body"/>
          </p:nvPr>
        </p:nvSpPr>
        <p:spPr>
          <a:xfrm>
            <a:off x="0" y="757700"/>
            <a:ext cx="9144000" cy="41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➢"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1371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18288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22860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2743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3200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/>
          <p:nvPr>
            <p:ph type="title"/>
          </p:nvPr>
        </p:nvSpPr>
        <p:spPr>
          <a:xfrm>
            <a:off x="47575" y="551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PT Sans Narrow"/>
              <a:buNone/>
              <a:defRPr b="1" i="0" sz="3600" u="none" cap="none" strike="noStrike"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0" lvl="2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0" lvl="3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0" lvl="4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0" lvl="5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0" lvl="6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0" lvl="7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0" lvl="8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1371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18288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22860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2743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3200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1371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18288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22860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2743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3200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40" name="Shape 40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PT Sans Narrow"/>
              <a:buNone/>
              <a:defRPr b="1" i="0" sz="3600" u="none" cap="none" strike="noStrike"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2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0" lvl="2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2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0" lvl="3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2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0" lvl="4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2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0" lvl="5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2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0" lvl="6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2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0" lvl="7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2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0" lvl="8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24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8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1371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18288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22860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2743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3200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2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45" name="Shape 45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/>
          <p:nvPr>
            <p:ph type="title"/>
          </p:nvPr>
        </p:nvSpPr>
        <p:spPr>
          <a:xfrm>
            <a:off x="34975" y="425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PT Sans Narrow"/>
              <a:buNone/>
              <a:defRPr b="1" i="0" sz="3600" u="none" cap="none" strike="noStrike"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0" lvl="2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0" lvl="3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0" lvl="4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0" lvl="5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0" lvl="6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0" lvl="7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0" lvl="8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49" name="Shape 49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Shape 52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PT Sans Narrow"/>
              <a:buNone/>
              <a:defRPr b="1" i="0" sz="6000" u="none" cap="none" strike="noStrike"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0" lvl="2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0" lvl="3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0" lvl="4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0" lvl="5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0" lvl="6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0" lvl="7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0" lvl="8" rtl="0" algn="ctr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PT Sans Narrow"/>
              <a:buNone/>
              <a:defRPr b="0" i="0" sz="5400" u="none" cap="none" strike="noStrike">
                <a:solidFill>
                  <a:srgbClr val="FFFFFF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rtl="0">
              <a:spcBef>
                <a:spcPts val="0"/>
              </a:spcBef>
              <a:buClr>
                <a:schemeClr val="dk2"/>
              </a:buClr>
              <a:buFont typeface="PT Sans Narrow"/>
              <a:buNone/>
              <a:defRPr b="0" sz="54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0" lvl="2" rtl="0">
              <a:spcBef>
                <a:spcPts val="0"/>
              </a:spcBef>
              <a:buClr>
                <a:schemeClr val="dk2"/>
              </a:buClr>
              <a:buFont typeface="PT Sans Narrow"/>
              <a:buNone/>
              <a:defRPr b="0" sz="54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0" lvl="3" rtl="0">
              <a:spcBef>
                <a:spcPts val="0"/>
              </a:spcBef>
              <a:buClr>
                <a:schemeClr val="dk2"/>
              </a:buClr>
              <a:buFont typeface="PT Sans Narrow"/>
              <a:buNone/>
              <a:defRPr b="0" sz="54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0" lvl="4" rtl="0">
              <a:spcBef>
                <a:spcPts val="0"/>
              </a:spcBef>
              <a:buClr>
                <a:schemeClr val="dk2"/>
              </a:buClr>
              <a:buFont typeface="PT Sans Narrow"/>
              <a:buNone/>
              <a:defRPr b="0" sz="54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0" lvl="5" rtl="0">
              <a:spcBef>
                <a:spcPts val="0"/>
              </a:spcBef>
              <a:buClr>
                <a:schemeClr val="dk2"/>
              </a:buClr>
              <a:buFont typeface="PT Sans Narrow"/>
              <a:buNone/>
              <a:defRPr b="0" sz="54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0" lvl="6" rtl="0">
              <a:spcBef>
                <a:spcPts val="0"/>
              </a:spcBef>
              <a:buClr>
                <a:schemeClr val="dk2"/>
              </a:buClr>
              <a:buFont typeface="PT Sans Narrow"/>
              <a:buNone/>
              <a:defRPr b="0" sz="54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0" lvl="7" rtl="0">
              <a:spcBef>
                <a:spcPts val="0"/>
              </a:spcBef>
              <a:buClr>
                <a:schemeClr val="dk2"/>
              </a:buClr>
              <a:buFont typeface="PT Sans Narrow"/>
              <a:buNone/>
              <a:defRPr b="0" sz="54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0" lvl="8" rtl="0">
              <a:spcBef>
                <a:spcPts val="0"/>
              </a:spcBef>
              <a:buClr>
                <a:schemeClr val="dk2"/>
              </a:buClr>
              <a:buFont typeface="PT Sans Narrow"/>
              <a:buNone/>
              <a:defRPr b="0" sz="54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PT Sans Narrow"/>
              <a:buNone/>
              <a:defRPr b="0" i="0" sz="2400" u="none" cap="none" strike="noStrike">
                <a:solidFill>
                  <a:srgbClr val="434343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1371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18288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22860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2743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3200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60" name="Shape 60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Shape 63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T Sans Narrow"/>
              <a:buNone/>
              <a:defRPr b="1" i="0" sz="13000" u="none" cap="none" strike="noStrike">
                <a:solidFill>
                  <a:schemeClr val="accent3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rtl="0" algn="ctr">
              <a:spcBef>
                <a:spcPts val="0"/>
              </a:spcBef>
              <a:buClr>
                <a:schemeClr val="accent3"/>
              </a:buClr>
              <a:buFont typeface="PT Sans Narrow"/>
              <a:buNone/>
              <a:defRPr b="1" sz="13000">
                <a:solidFill>
                  <a:schemeClr val="accent3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0" lvl="2" rtl="0" algn="ctr">
              <a:spcBef>
                <a:spcPts val="0"/>
              </a:spcBef>
              <a:buClr>
                <a:schemeClr val="accent3"/>
              </a:buClr>
              <a:buFont typeface="PT Sans Narrow"/>
              <a:buNone/>
              <a:defRPr b="1" sz="13000">
                <a:solidFill>
                  <a:schemeClr val="accent3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0" lvl="3" rtl="0" algn="ctr">
              <a:spcBef>
                <a:spcPts val="0"/>
              </a:spcBef>
              <a:buClr>
                <a:schemeClr val="accent3"/>
              </a:buClr>
              <a:buFont typeface="PT Sans Narrow"/>
              <a:buNone/>
              <a:defRPr b="1" sz="13000">
                <a:solidFill>
                  <a:schemeClr val="accent3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0" lvl="4" rtl="0" algn="ctr">
              <a:spcBef>
                <a:spcPts val="0"/>
              </a:spcBef>
              <a:buClr>
                <a:schemeClr val="accent3"/>
              </a:buClr>
              <a:buFont typeface="PT Sans Narrow"/>
              <a:buNone/>
              <a:defRPr b="1" sz="13000">
                <a:solidFill>
                  <a:schemeClr val="accent3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0" lvl="5" rtl="0" algn="ctr">
              <a:spcBef>
                <a:spcPts val="0"/>
              </a:spcBef>
              <a:buClr>
                <a:schemeClr val="accent3"/>
              </a:buClr>
              <a:buFont typeface="PT Sans Narrow"/>
              <a:buNone/>
              <a:defRPr b="1" sz="13000">
                <a:solidFill>
                  <a:schemeClr val="accent3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0" lvl="6" rtl="0" algn="ctr">
              <a:spcBef>
                <a:spcPts val="0"/>
              </a:spcBef>
              <a:buClr>
                <a:schemeClr val="accent3"/>
              </a:buClr>
              <a:buFont typeface="PT Sans Narrow"/>
              <a:buNone/>
              <a:defRPr b="1" sz="13000">
                <a:solidFill>
                  <a:schemeClr val="accent3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0" lvl="7" rtl="0" algn="ctr">
              <a:spcBef>
                <a:spcPts val="0"/>
              </a:spcBef>
              <a:buClr>
                <a:schemeClr val="accent3"/>
              </a:buClr>
              <a:buFont typeface="PT Sans Narrow"/>
              <a:buNone/>
              <a:defRPr b="1" sz="13000">
                <a:solidFill>
                  <a:schemeClr val="accent3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0" lvl="8" rtl="0" algn="ctr">
              <a:spcBef>
                <a:spcPts val="0"/>
              </a:spcBef>
              <a:buClr>
                <a:schemeClr val="accent3"/>
              </a:buClr>
              <a:buFont typeface="PT Sans Narrow"/>
              <a:buNone/>
              <a:defRPr b="1" sz="13000">
                <a:solidFill>
                  <a:schemeClr val="accent3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8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45720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91440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137160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182880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228600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274320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320040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365760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PT Sans Narrow"/>
              <a:buNone/>
              <a:defRPr b="1" i="0" sz="3600" u="none" cap="none" strike="noStrike"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0" lvl="1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0" lvl="2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0" lvl="3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0" lvl="4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0" lvl="5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0" lvl="6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0" lvl="7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0" lvl="8" rtl="0">
              <a:spcBef>
                <a:spcPts val="0"/>
              </a:spcBef>
              <a:buClr>
                <a:schemeClr val="accent1"/>
              </a:buClr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8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1371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18288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22860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2743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3200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34343"/>
              </a:buClr>
              <a:buFont typeface="Open Sans"/>
              <a:buNone/>
              <a:defRPr b="0" i="0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Open Sans"/>
              <a:buNone/>
            </a:pPr>
            <a:fld id="{00000000-1234-1234-1234-123412341234}" type="slidenum">
              <a:rPr b="0" i="0" lang="en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0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Relationship Id="rId5" Type="http://schemas.openxmlformats.org/officeDocument/2006/relationships/image" Target="../media/image0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Shape 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9437" y="1226575"/>
            <a:ext cx="2785126" cy="20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hape 71"/>
          <p:cNvSpPr txBox="1"/>
          <p:nvPr>
            <p:ph idx="1" type="subTitle"/>
          </p:nvPr>
        </p:nvSpPr>
        <p:spPr>
          <a:xfrm>
            <a:off x="2137225" y="31548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25000"/>
              <a:buFont typeface="Open Sans"/>
              <a:buNone/>
            </a:pPr>
            <a:r>
              <a:rPr b="0" i="0" lang="en" sz="2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By Team R.O.C.K.E.T.</a:t>
            </a:r>
          </a:p>
          <a:p>
            <a: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25000"/>
              <a:buFont typeface="Open Sans"/>
              <a:buNone/>
            </a:pPr>
            <a:r>
              <a:rPr b="0" i="0" lang="en" sz="14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~ Branden Alder, Troy Riblett, JP Fallon, Tanna McClure ~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25000"/>
              <a:buFont typeface="Open Sans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Shape 72"/>
          <p:cNvSpPr txBox="1"/>
          <p:nvPr>
            <p:ph idx="1" type="subTitle"/>
          </p:nvPr>
        </p:nvSpPr>
        <p:spPr>
          <a:xfrm>
            <a:off x="2137250" y="4177875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25000"/>
              <a:buFont typeface="Open Sans"/>
              <a:buNone/>
            </a:pPr>
            <a:r>
              <a:rPr lang="en" sz="1800">
                <a:solidFill>
                  <a:srgbClr val="434343"/>
                </a:solidFill>
              </a:rPr>
              <a:t>Please silence your phones.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250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/>
          <p:nvPr/>
        </p:nvSpPr>
        <p:spPr>
          <a:xfrm>
            <a:off x="311700" y="5725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ct val="25000"/>
              <a:buFont typeface="PT Sans Narrow"/>
              <a:buNone/>
            </a:pPr>
            <a:r>
              <a:rPr b="1" i="0" lang="en" sz="3600" u="none" cap="none" strike="noStrike">
                <a:latin typeface="PT Sans Narrow"/>
                <a:ea typeface="PT Sans Narrow"/>
                <a:cs typeface="PT Sans Narrow"/>
                <a:sym typeface="PT Sans Narrow"/>
              </a:rPr>
              <a:t>BioMetrix</a:t>
            </a:r>
          </a:p>
        </p:txBody>
      </p:sp>
      <p:sp>
        <p:nvSpPr>
          <p:cNvPr id="78" name="Shape 78"/>
          <p:cNvSpPr txBox="1"/>
          <p:nvPr/>
        </p:nvSpPr>
        <p:spPr>
          <a:xfrm>
            <a:off x="311700" y="538050"/>
            <a:ext cx="85206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ct val="25000"/>
              <a:buFont typeface="Proxima Nova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Self Health Monitor Android Application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25000"/>
              <a:buFont typeface="Proxima Nova"/>
              <a:buNone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BioMetrix gives users a unique ability to track multiple aspects of their health.</a:t>
            </a:r>
          </a:p>
        </p:txBody>
      </p:sp>
      <p:sp>
        <p:nvSpPr>
          <p:cNvPr id="79" name="Shape 79"/>
          <p:cNvSpPr txBox="1"/>
          <p:nvPr/>
        </p:nvSpPr>
        <p:spPr>
          <a:xfrm>
            <a:off x="0" y="1278750"/>
            <a:ext cx="9135000" cy="3680100"/>
          </a:xfrm>
          <a:prstGeom prst="rect">
            <a:avLst/>
          </a:prstGeom>
          <a:noFill/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91425" lIns="91425" rIns="91425" tIns="91425">
            <a:noAutofit/>
          </a:bodyPr>
          <a:lstStyle/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roxima Nova"/>
                <a:ea typeface="Proxima Nova"/>
                <a:cs typeface="Proxima Nova"/>
                <a:sym typeface="Proxima Nova"/>
              </a:rPr>
              <a:t>MODULES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Mood Module to track the changes in mental state (ie: depression, anxiety, etc.).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Sleep Module to track the amount and quality of sleep you get.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 Module to track your workout routine, time, and intensity. 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Diet Module to track food intake nutrition facts. 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Medication Module to track all details pertaining to medication you take. 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roxima Nova"/>
                <a:ea typeface="Proxima Nova"/>
                <a:cs typeface="Proxima Nova"/>
                <a:sym typeface="Proxima Nova"/>
              </a:rPr>
              <a:t>ANALYTICS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User can view, edit or delete past entries entered into the system. 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All statistics gathered from modules are used in user </a:t>
            </a:r>
            <a:r>
              <a:rPr b="0" i="0" lang="en" sz="1800" u="none" cap="none" strike="noStrike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created custom analytics </a:t>
            </a: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which will</a:t>
            </a:r>
            <a:r>
              <a:rPr lang="en">
                <a:solidFill>
                  <a:srgbClr val="434343"/>
                </a:solidFill>
              </a:rPr>
              <a:t> </a:t>
            </a:r>
            <a:r>
              <a:rPr b="0" i="0" lang="en" sz="1800" u="none" cap="none" strike="noStrike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represent ongoing changes in their lives for personal or medical use. 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The user will also be able to compare various module fields to find correlation trends.</a:t>
            </a:r>
          </a:p>
        </p:txBody>
      </p:sp>
      <p:cxnSp>
        <p:nvCxnSpPr>
          <p:cNvPr id="80" name="Shape 80"/>
          <p:cNvCxnSpPr/>
          <p:nvPr/>
        </p:nvCxnSpPr>
        <p:spPr>
          <a:xfrm>
            <a:off x="6775" y="1316175"/>
            <a:ext cx="9135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lg" w="lg" type="none"/>
            <a:tailEnd len="lg" w="lg" type="none"/>
          </a:ln>
        </p:spPr>
      </p:cxn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311700" y="50300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Reasons We Chose BioMetrix As Our Junior Project</a:t>
            </a:r>
          </a:p>
        </p:txBody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x="0" y="757700"/>
            <a:ext cx="9144000" cy="4303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MOOD AND LIFE TRACKER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Watch how different parts of your life interact with one another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Observe changes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Keep track of a mental illness - use with a therapist or on your own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New medications</a:t>
            </a:r>
          </a:p>
          <a:p>
            <a:pPr lv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EXISTING APPLICATIONS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Not many existing mood trackers (especially ones that are useful for mental illnesses)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No mood tracker apps perform analysis and calculate correlations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MODULAR IN NATURE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Most modules do not interact with each other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Work on one module at a time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Add or remove modules if needed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/>
          <p:nvPr>
            <p:ph type="title"/>
          </p:nvPr>
        </p:nvSpPr>
        <p:spPr>
          <a:xfrm>
            <a:off x="311700" y="50300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Technologies used - Android Studio</a:t>
            </a:r>
          </a:p>
        </p:txBody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x="0" y="757700"/>
            <a:ext cx="9144000" cy="4191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Why Android Studio?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Wanted to create an Android application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Best of 3 options (Android Studio, QT, or Eclipse)</a:t>
            </a: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○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QT - Cross platform, but much more complex</a:t>
            </a: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○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Eclipse - More general purpose IDE</a:t>
            </a: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○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Android Studio - IDE specifically designed to create Android Applications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Java programming language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Essentially the required language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XML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Language used in Android Studio for layout of buttons, icons, etc.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SQLite programming language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 lightweight database used on Android applications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/>
          <p:nvPr>
            <p:ph type="title"/>
          </p:nvPr>
        </p:nvSpPr>
        <p:spPr>
          <a:xfrm>
            <a:off x="311700" y="50300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Technologies used - Amazon Web Services</a:t>
            </a:r>
          </a:p>
        </p:txBody>
      </p:sp>
      <p:sp>
        <p:nvSpPr>
          <p:cNvPr id="98" name="Shape 98"/>
          <p:cNvSpPr txBox="1"/>
          <p:nvPr>
            <p:ph idx="1" type="body"/>
          </p:nvPr>
        </p:nvSpPr>
        <p:spPr>
          <a:xfrm>
            <a:off x="0" y="757700"/>
            <a:ext cx="9144000" cy="4191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Why AWS?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Class requirements</a:t>
            </a: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○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App must communicate over the network</a:t>
            </a: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○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Must have a database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 web backup database satisfies both requirements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Microsoft SQL database (hosted by AWS)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Team knew Microsoft SQL from databases course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Linux Web Server (hosted by AWS)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Team was more familiar with bash than powershell due to unix courses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PHP programming language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Needed a programming language for the web server to communicate in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HTML programming language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App only needed very basic web pages for resetting passwords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/>
          <p:nvPr>
            <p:ph type="title"/>
          </p:nvPr>
        </p:nvSpPr>
        <p:spPr>
          <a:xfrm>
            <a:off x="311700" y="50300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Technologies used - Miscellaneous</a:t>
            </a:r>
          </a:p>
        </p:txBody>
      </p:sp>
      <p:sp>
        <p:nvSpPr>
          <p:cNvPr id="104" name="Shape 104"/>
          <p:cNvSpPr txBox="1"/>
          <p:nvPr>
            <p:ph idx="1" type="body"/>
          </p:nvPr>
        </p:nvSpPr>
        <p:spPr>
          <a:xfrm>
            <a:off x="0" y="757700"/>
            <a:ext cx="9144000" cy="4191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Google domains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Used to register the website www.biometrixapp.com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Google API Console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Used to register/maintain google login capabilities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Let’s Encrypt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Enabled us to use a secure (HTTPS) connection for our application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Visual Basic for Applications (VBA)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Allowed us to write scripts to help us write our SQL code</a:t>
            </a:r>
          </a:p>
          <a:p>
            <a: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Github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Public code repository for the application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/>
          <p:nvPr>
            <p:ph type="title"/>
          </p:nvPr>
        </p:nvSpPr>
        <p:spPr>
          <a:xfrm>
            <a:off x="83100" y="140225"/>
            <a:ext cx="8520600" cy="1093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4800"/>
              <a:t>DEMONSTRATION</a:t>
            </a:r>
          </a:p>
        </p:txBody>
      </p:sp>
      <p:pic>
        <p:nvPicPr>
          <p:cNvPr id="110" name="Shape 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775" y="161450"/>
            <a:ext cx="6236651" cy="4820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Shape 111"/>
          <p:cNvCxnSpPr/>
          <p:nvPr/>
        </p:nvCxnSpPr>
        <p:spPr>
          <a:xfrm>
            <a:off x="13550" y="928400"/>
            <a:ext cx="4181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lg" w="lg" type="none"/>
            <a:tailEnd len="lg" w="lg" type="none"/>
          </a:ln>
        </p:spPr>
      </p:cxn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/>
          <p:nvPr>
            <p:ph type="title"/>
          </p:nvPr>
        </p:nvSpPr>
        <p:spPr>
          <a:xfrm>
            <a:off x="311700" y="50300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What We Learned</a:t>
            </a:r>
          </a:p>
        </p:txBody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0" y="757700"/>
            <a:ext cx="9144000" cy="4191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buClr>
                <a:srgbClr val="434343"/>
              </a:buClr>
              <a:buSzPct val="100000"/>
              <a:buFont typeface="Proxima Nova"/>
            </a:pPr>
            <a:r>
              <a:rPr lang="en">
                <a:solidFill>
                  <a:srgbClr val="434343"/>
                </a:solidFill>
              </a:rPr>
              <a:t>Being open and honest with teammates tends to work better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434343"/>
              </a:solidFill>
            </a:endParaRPr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buClr>
                <a:srgbClr val="434343"/>
              </a:buClr>
              <a:buSzPct val="100000"/>
            </a:pPr>
            <a:r>
              <a:rPr lang="en">
                <a:solidFill>
                  <a:srgbClr val="434343"/>
                </a:solidFill>
              </a:rPr>
              <a:t>How to communicate with others that have very different communication styles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434343"/>
              </a:solidFill>
            </a:endParaRPr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buClr>
                <a:srgbClr val="434343"/>
              </a:buClr>
              <a:buSzPct val="100000"/>
            </a:pPr>
            <a:r>
              <a:rPr lang="en">
                <a:solidFill>
                  <a:srgbClr val="434343"/>
                </a:solidFill>
              </a:rPr>
              <a:t>How to teach yourself different technologies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434343"/>
              </a:solidFill>
            </a:endParaRPr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buClr>
                <a:srgbClr val="434343"/>
              </a:buClr>
              <a:buSzPct val="100000"/>
            </a:pPr>
            <a:r>
              <a:rPr lang="en">
                <a:solidFill>
                  <a:srgbClr val="434343"/>
                </a:solidFill>
              </a:rPr>
              <a:t>Don’t spend hours on a problem, ask someone. Seriously this is huge.</a:t>
            </a:r>
          </a:p>
          <a:p>
            <a:pPr lvl="0" marR="0" rtl="0" algn="l">
              <a:lnSpc>
                <a:spcPct val="150000"/>
              </a:lnSpc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434343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buClr>
                <a:srgbClr val="434343"/>
              </a:buClr>
              <a:buSzPct val="100000"/>
              <a:buFont typeface="Arial"/>
            </a:pPr>
            <a:r>
              <a:rPr lang="en">
                <a:solidFill>
                  <a:srgbClr val="434343"/>
                </a:solidFill>
              </a:rPr>
              <a:t>Utilize all resources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/>
          <p:nvPr>
            <p:ph type="title"/>
          </p:nvPr>
        </p:nvSpPr>
        <p:spPr>
          <a:xfrm>
            <a:off x="311700" y="50300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What We Would Do Differently </a:t>
            </a:r>
          </a:p>
        </p:txBody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0" y="757700"/>
            <a:ext cx="9144000" cy="4191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what every single part of the project requires ahead of time</a:t>
            </a:r>
          </a:p>
          <a:p>
            <a:pPr indent="-2286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Proxima Nova"/>
              <a:buChar char="○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Fragments instead of activities</a:t>
            </a:r>
          </a:p>
          <a:p>
            <a:pPr indent="-2286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Proxima Nova"/>
              <a:buChar char="○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Go with a MYSQL database instead of a Microsoft SQL database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Accomplish more functionality in the fall turn. We started off real slow.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Determine the strengths of your teammates early and utilize them to help everyone learn. Don’t just have the one person working on a specific part alone if say you have never worked with it before. Learn it.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Know best practices and develop defensively to avoid technical debt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/>
          <p:nvPr>
            <p:ph type="title"/>
          </p:nvPr>
        </p:nvSpPr>
        <p:spPr>
          <a:xfrm>
            <a:off x="311700" y="50300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Advice For Future JP Students</a:t>
            </a:r>
          </a:p>
        </p:txBody>
      </p:sp>
      <p:sp>
        <p:nvSpPr>
          <p:cNvPr id="129" name="Shape 129"/>
          <p:cNvSpPr txBox="1"/>
          <p:nvPr>
            <p:ph idx="1" type="body"/>
          </p:nvPr>
        </p:nvSpPr>
        <p:spPr>
          <a:xfrm>
            <a:off x="0" y="757700"/>
            <a:ext cx="9144000" cy="4191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Learn the best way to do things, don’t just make it work or make up work.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Find the best communication style for your team, and utilize it.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Your team will have conflict. Recognize that fact and work through it earlier rather than later.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Keep the scope of your project limited, Work in small pieces (modular).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Junior project is not the only difficult class in junior year, be prepared.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Proxima Nova"/>
              <a:buChar char="➢"/>
            </a:pPr>
            <a:r>
              <a:rPr lang="e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Work throughout the week. Try not to save it to Sunday night.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type="title"/>
          </p:nvPr>
        </p:nvSpPr>
        <p:spPr>
          <a:xfrm>
            <a:off x="83100" y="0"/>
            <a:ext cx="8984100" cy="823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4800"/>
              <a:t>Any Questions?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35" name="Shape 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975" y="1560400"/>
            <a:ext cx="945375" cy="945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Shape 136"/>
          <p:cNvCxnSpPr/>
          <p:nvPr/>
        </p:nvCxnSpPr>
        <p:spPr>
          <a:xfrm>
            <a:off x="0" y="880825"/>
            <a:ext cx="9135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lg" w="lg" type="none"/>
            <a:tailEnd len="lg" w="lg" type="none"/>
          </a:ln>
        </p:spPr>
      </p:cxnSp>
      <p:pic>
        <p:nvPicPr>
          <p:cNvPr id="137" name="Shape 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972" y="3267772"/>
            <a:ext cx="945375" cy="945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Shape 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5525" y="3267775"/>
            <a:ext cx="945375" cy="9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Shape 139"/>
          <p:cNvSpPr txBox="1"/>
          <p:nvPr>
            <p:ph idx="1" type="body"/>
          </p:nvPr>
        </p:nvSpPr>
        <p:spPr>
          <a:xfrm>
            <a:off x="0" y="938450"/>
            <a:ext cx="9135000" cy="4305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">
                <a:solidFill>
                  <a:srgbClr val="434343"/>
                </a:solidFill>
              </a:rPr>
              <a:t>Please direct all questions to the presenter you wish to answer it.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1625025" y="1580825"/>
            <a:ext cx="27669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200"/>
              <a:t>Name: Branden Alder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200"/>
              <a:t>Email: branden.w.alder@gmail.com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200"/>
              <a:t>GitHub: https://github.com/Trustyn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1625025" y="3288200"/>
            <a:ext cx="27669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200"/>
              <a:t>Name: Troy (TJ) Riblett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200"/>
              <a:t>Email: troy.riblett@gmail.com 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200"/>
              <a:t>GitHub: https://github.com/troy-riblett 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6006400" y="1580837"/>
            <a:ext cx="27669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200"/>
              <a:t>Name: JP Fallon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200"/>
              <a:t>GitHub: https://github.com/JayGarxP</a:t>
            </a:r>
          </a:p>
        </p:txBody>
      </p:sp>
      <p:sp>
        <p:nvSpPr>
          <p:cNvPr id="143" name="Shape 143"/>
          <p:cNvSpPr txBox="1"/>
          <p:nvPr/>
        </p:nvSpPr>
        <p:spPr>
          <a:xfrm>
            <a:off x="6006400" y="3288200"/>
            <a:ext cx="28191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200"/>
              <a:t>Name: Tanna McClure</a:t>
            </a:r>
            <a:br>
              <a:rPr lang="en" sz="1200"/>
            </a:br>
            <a:r>
              <a:rPr lang="en" sz="1200"/>
              <a:t>Email: tanna.lynn.mcclure@gmail.com</a:t>
            </a:r>
            <a:br>
              <a:rPr lang="en" sz="1200"/>
            </a:br>
            <a:r>
              <a:rPr lang="en" sz="1200"/>
              <a:t>GitHub: https://github.com/tannalynn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